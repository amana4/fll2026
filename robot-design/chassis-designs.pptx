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4A6357"/>
                </a:solidFill>
                <a:latin typeface="Trebuchet MS"/>
              </a:rPr>
              <a:t>BIOGLOW  ·  ROBOT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6362B"/>
                </a:solidFill>
                <a:latin typeface="Trebuchet MS"/>
              </a:rPr>
              <a:t>Six teams built six robots.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6362B"/>
                </a:solidFill>
                <a:latin typeface="Trebuchet MS"/>
              </a:rPr>
              <a:t>The good ones all made the same choices.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Before we build ours, let's look at what other people already worked out — and at the mistakes they only found after building.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None of this is guesswork. It comes from a coach with ten years of seasons behind him, through regionals and nationals to an international final.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937760"/>
            <a:ext cx="32004" cy="566928"/>
          </a:xfrm>
          <a:prstGeom prst="rect">
            <a:avLst/>
          </a:prstGeom>
          <a:solidFill>
            <a:srgbClr val="EB6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956048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16362B"/>
                </a:solidFill>
                <a:latin typeface="Trebuchet MS"/>
              </a:rPr>
              <a:t>The robot that wins is not the cleverest one. It is the one that does the same thing every single 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4A6357"/>
                </a:solidFill>
                <a:latin typeface="Trebuchet MS"/>
              </a:rPr>
              <a:t>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6362B"/>
                </a:solidFill>
                <a:latin typeface="Trebuchet MS"/>
              </a:rPr>
              <a:t>One base. Many attachments.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Do not build a robot per mission. Build one really good base that never changes, then build a small attachment for each job that clips onto it. The base is the thing you get reliable once; the attachments are where the cleverness goes.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3291840"/>
            <a:ext cx="2651760" cy="2377440"/>
          </a:xfrm>
          <a:prstGeom prst="roundRect">
            <a:avLst>
              <a:gd name="adj" fmla="val 4000"/>
            </a:avLst>
          </a:prstGeom>
          <a:solidFill>
            <a:srgbClr val="FCE6DC"/>
          </a:solidFill>
          <a:ln w="22225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691640" y="3520440"/>
            <a:ext cx="868680" cy="256032"/>
          </a:xfrm>
          <a:prstGeom prst="rect">
            <a:avLst/>
          </a:prstGeom>
          <a:noFill/>
          <a:ln w="9525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EB6C36"/>
                </a:solidFill>
                <a:latin typeface="Trebuchet MS"/>
              </a:rPr>
              <a:t>FIXED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2976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6362B"/>
                </a:solidFill>
                <a:latin typeface="Trebuchet MS"/>
              </a:rPr>
              <a:t>One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709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Never changes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3621024"/>
            <a:ext cx="2651760" cy="0"/>
          </a:xfrm>
          <a:prstGeom prst="line">
            <a:avLst/>
          </a:prstGeom>
          <a:ln w="15875">
            <a:solidFill>
              <a:srgbClr val="4A63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766560" y="3291840"/>
            <a:ext cx="356616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0" y="346557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6362B"/>
                </a:solidFill>
                <a:latin typeface="Trebuchet MS"/>
              </a:rPr>
              <a:t>Attachment for one job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4462272"/>
            <a:ext cx="2651760" cy="0"/>
          </a:xfrm>
          <a:prstGeom prst="line">
            <a:avLst/>
          </a:prstGeom>
          <a:ln w="15875">
            <a:solidFill>
              <a:srgbClr val="4A63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766560" y="4133088"/>
            <a:ext cx="356616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58000" y="43068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6362B"/>
                </a:solidFill>
                <a:latin typeface="Trebuchet MS"/>
              </a:rPr>
              <a:t>Attachment for another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0" y="5303520"/>
            <a:ext cx="2651760" cy="0"/>
          </a:xfrm>
          <a:prstGeom prst="line">
            <a:avLst/>
          </a:prstGeom>
          <a:ln w="15875">
            <a:solidFill>
              <a:srgbClr val="4A63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66560" y="4974336"/>
            <a:ext cx="356616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0" y="51480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6362B"/>
                </a:solidFill>
                <a:latin typeface="Trebuchet MS"/>
              </a:rPr>
              <a:t>And another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7D9488"/>
                </a:solidFill>
                <a:latin typeface="Trebuchet MS"/>
              </a:rPr>
              <a:t>TIME IS THE THING YOU RUN OUT OF. A BASE THAT NEVER CHANGES IS A BASE YOU ONLY DEBUG ONCE.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4A6357"/>
                </a:solidFill>
                <a:latin typeface="Trebuchet MS"/>
              </a:rPr>
              <a:t>THE LINE-UP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6362B"/>
                </a:solidFill>
                <a:latin typeface="Trebuchet MS"/>
              </a:rPr>
              <a:t>What each one is good at, and what it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A6357"/>
                </a:solidFill>
                <a:latin typeface="Trebuchet MS"/>
              </a:rPr>
              <a:t>Read the right-hand column carefully. That is where the lesson is.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28600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663440"/>
                <a:gridCol w="402336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5F5"/>
                          </a:solidFill>
                          <a:latin typeface="Trebuchet MS"/>
                        </a:rPr>
                        <a:t>Robot</a:t>
                      </a:r>
                    </a:p>
                  </a:txBody>
                  <a:tcPr marL="82296" marR="82296" marT="45720" marB="45720" anchor="t">
                    <a:solidFill>
                      <a:srgbClr val="163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5F5"/>
                          </a:solidFill>
                          <a:latin typeface="Trebuchet MS"/>
                        </a:rPr>
                        <a:t>What it does well</a:t>
                      </a:r>
                    </a:p>
                  </a:txBody>
                  <a:tcPr marL="82296" marR="82296" marT="45720" marB="45720" anchor="t">
                    <a:solidFill>
                      <a:srgbClr val="163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5F5"/>
                          </a:solidFill>
                          <a:latin typeface="Trebuchet MS"/>
                        </a:rPr>
                        <a:t>What it costs you</a:t>
                      </a:r>
                    </a:p>
                  </a:txBody>
                  <a:tcPr marL="82296" marR="82296" marT="45720" marB="45720" anchor="t">
                    <a:solidFill>
                      <a:srgbClr val="1636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362B"/>
                          </a:solidFill>
                          <a:latin typeface="Trebuchet MS"/>
                        </a:rPr>
                        <a:t>HummerOne Pro</a:t>
                      </a:r>
                    </a:p>
                  </a:txBody>
                  <a:tcPr marL="82296" marR="82296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6357"/>
                          </a:solidFill>
                          <a:latin typeface="Trebuchet MS"/>
                        </a:rPr>
                        <a:t>Easiest to build. One kit plus the expansion set. Simple clip-on attachments.</a:t>
                      </a:r>
                    </a:p>
                  </a:txBody>
                  <a:tcPr marL="82296" marR="82296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6357"/>
                          </a:solidFill>
                          <a:latin typeface="Trebuchet MS"/>
                        </a:rPr>
                        <a:t>Wheels slip once an attachment gets heavy.</a:t>
                      </a:r>
                    </a:p>
                  </a:txBody>
                  <a:tcPr marL="82296" marR="82296" marT="45720" marB="45720" anchor="t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362B"/>
                          </a:solidFill>
                          <a:latin typeface="Trebuchet MS"/>
                        </a:rPr>
                        <a:t>Xbot</a:t>
                      </a:r>
                    </a:p>
                  </a:txBody>
                  <a:tcPr marL="82296" marR="82296" marT="45720" marB="45720" anchor="t">
                    <a:solidFill>
                      <a:srgbClr val="EF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6357"/>
                          </a:solidFill>
                          <a:latin typeface="Trebuchet MS"/>
                        </a:rPr>
                        <a:t>Frame right around the outside, so it balances well. Attachments on top and front.</a:t>
                      </a:r>
                    </a:p>
                  </a:txBody>
                  <a:tcPr marL="82296" marR="82296" marT="45720" marB="45720" anchor="t">
                    <a:solidFill>
                      <a:srgbClr val="EF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6357"/>
                          </a:solidFill>
                          <a:latin typeface="Trebuchet MS"/>
                        </a:rPr>
                        <a:t>The frame eats a lot of LEGO. Wheels can still slip — blue SPIKE wheels.</a:t>
                      </a:r>
                    </a:p>
                  </a:txBody>
                  <a:tcPr marL="82296" marR="82296" marT="45720" marB="45720" anchor="t">
                    <a:solidFill>
                      <a:srgbClr val="EFF2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362B"/>
                          </a:solidFill>
                          <a:latin typeface="Trebuchet MS"/>
                        </a:rPr>
                        <a:t>YellowBot v1</a:t>
                      </a:r>
                    </a:p>
                  </a:txBody>
                  <a:tcPr marL="82296" marR="82296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6357"/>
                          </a:solidFill>
                          <a:latin typeface="Trebuchet MS"/>
                        </a:rPr>
                        <a:t>Box frame lines up against walls. Attachments drop in using gravity. Colour sensor at the front.</a:t>
                      </a:r>
                    </a:p>
                  </a:txBody>
                  <a:tcPr marL="82296" marR="82296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6357"/>
                          </a:solidFill>
                          <a:latin typeface="Trebuchet MS"/>
                        </a:rPr>
                        <a:t>Wheels can still slip — blue SPIKE wheels.</a:t>
                      </a:r>
                    </a:p>
                  </a:txBody>
                  <a:tcPr marL="82296" marR="82296" marT="45720" marB="45720" anchor="t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362B"/>
                          </a:solidFill>
                          <a:latin typeface="Trebuchet MS"/>
                        </a:rPr>
                        <a:t>YellowBot v2</a:t>
                      </a:r>
                    </a:p>
                  </a:txBody>
                  <a:tcPr marL="82296" marR="82296" marT="45720" marB="45720" anchor="t">
                    <a:solidFill>
                      <a:srgbClr val="EF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6357"/>
                          </a:solidFill>
                          <a:latin typeface="Trebuchet MS"/>
                        </a:rPr>
                        <a:t>Better box frame. Front-wheel drive. Hub sunk down low. Side walls can push things.</a:t>
                      </a:r>
                    </a:p>
                  </a:txBody>
                  <a:tcPr marL="82296" marR="82296" marT="45720" marB="45720" anchor="t">
                    <a:solidFill>
                      <a:srgbClr val="EF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6357"/>
                          </a:solidFill>
                          <a:latin typeface="Trebuchet MS"/>
                        </a:rPr>
                        <a:t>Raised frame needs extra LEGO. Needs 62.4 mm wheels.</a:t>
                      </a:r>
                    </a:p>
                  </a:txBody>
                  <a:tcPr marL="82296" marR="82296" marT="45720" marB="45720" anchor="t">
                    <a:solidFill>
                      <a:srgbClr val="EFF2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362B"/>
                          </a:solidFill>
                          <a:latin typeface="Trebuchet MS"/>
                        </a:rPr>
                        <a:t>Track-X</a:t>
                      </a:r>
                    </a:p>
                  </a:txBody>
                  <a:tcPr marL="82296" marR="82296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6357"/>
                          </a:solidFill>
                          <a:latin typeface="Trebuchet MS"/>
                        </a:rPr>
                        <a:t>Sits very low, so it grips. Very accurate and repeatable. Fast frame swaps. Widely used.</a:t>
                      </a:r>
                    </a:p>
                  </a:txBody>
                  <a:tcPr marL="82296" marR="82296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6357"/>
                          </a:solidFill>
                          <a:latin typeface="Trebuchet MS"/>
                        </a:rPr>
                        <a:t>Needs 62.4 mm wheels. Open sides, so no walls to line up with.</a:t>
                      </a:r>
                    </a:p>
                  </a:txBody>
                  <a:tcPr marL="82296" marR="82296" marT="45720" marB="45720" anchor="t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B6C36"/>
                          </a:solidFill>
                          <a:latin typeface="Trebuchet MS"/>
                        </a:rPr>
                        <a:t>Boxor</a:t>
                      </a:r>
                    </a:p>
                  </a:txBody>
                  <a:tcPr marL="82296" marR="82296" marT="45720" marB="45720" anchor="t">
                    <a:solidFill>
                      <a:srgbClr val="FCE6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6357"/>
                          </a:solidFill>
                          <a:latin typeface="Trebuchet MS"/>
                        </a:rPr>
                        <a:t>Newest. Low, accurate, fast to swap, and a box frame for lining up. Best attachment system.</a:t>
                      </a:r>
                    </a:p>
                  </a:txBody>
                  <a:tcPr marL="82296" marR="82296" marT="45720" marB="45720" anchor="t">
                    <a:solidFill>
                      <a:srgbClr val="FCE6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6357"/>
                          </a:solidFill>
                          <a:latin typeface="Trebuchet MS"/>
                        </a:rPr>
                        <a:t>Needs 62.4 mm wheels.</a:t>
                      </a:r>
                    </a:p>
                  </a:txBody>
                  <a:tcPr marL="82296" marR="82296" marT="45720" marB="45720" anchor="t">
                    <a:solidFill>
                      <a:srgbClr val="FCE6D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6035040"/>
            <a:ext cx="32004" cy="566928"/>
          </a:xfrm>
          <a:prstGeom prst="rect">
            <a:avLst/>
          </a:prstGeom>
          <a:solidFill>
            <a:srgbClr val="EB6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053327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16362B"/>
                </a:solidFill>
                <a:latin typeface="Trebuchet MS"/>
              </a:rPr>
              <a:t>Boxor is not better because it is newer. It is better because it collected the good ideas from the five before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4A6357"/>
                </a:solidFill>
                <a:latin typeface="Trebuchet MS"/>
              </a:rPr>
              <a:t>SPOT THE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6362B"/>
                </a:solidFill>
                <a:latin typeface="Trebuchet MS"/>
              </a:rPr>
              <a:t>Three robots slip. Three don't.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Sort the six by which wheels they use. The slipping stops exactly where the wheels change — and a coach who made that swap on a real team says the accuracy improved dramatically, with the robot no longer slipping on turns.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00400"/>
            <a:ext cx="4572000" cy="2377440"/>
          </a:xfrm>
          <a:prstGeom prst="roundRect">
            <a:avLst>
              <a:gd name="adj" fmla="val 4000"/>
            </a:avLst>
          </a:prstGeom>
          <a:solidFill>
            <a:srgbClr val="EFF2F0"/>
          </a:solidFill>
          <a:ln w="12700">
            <a:solidFill>
              <a:srgbClr val="7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051560" y="3401568"/>
            <a:ext cx="2103120" cy="256032"/>
          </a:xfrm>
          <a:prstGeom prst="rect">
            <a:avLst/>
          </a:prstGeom>
          <a:noFill/>
          <a:ln w="9525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4A6357"/>
                </a:solidFill>
                <a:latin typeface="Trebuchet MS"/>
              </a:rPr>
              <a:t>BLUE SPIKE WHEELS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8862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6362B"/>
                </a:solidFill>
                <a:latin typeface="Trebuchet MS"/>
              </a:rPr>
              <a:t>HummerOne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336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6362B"/>
                </a:solidFill>
                <a:latin typeface="Trebuchet MS"/>
              </a:rPr>
              <a:t>Xbot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58114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6362B"/>
                </a:solidFill>
                <a:latin typeface="Trebuchet MS"/>
              </a:rPr>
              <a:t>YellowBot v1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51560" y="5138928"/>
            <a:ext cx="1783080" cy="0"/>
          </a:xfrm>
          <a:prstGeom prst="line">
            <a:avLst/>
          </a:prstGeom>
          <a:ln w="19050">
            <a:solidFill>
              <a:srgbClr val="7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331720" y="477316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234440" y="5138928"/>
            <a:ext cx="365760" cy="0"/>
          </a:xfrm>
          <a:prstGeom prst="line">
            <a:avLst/>
          </a:prstGeom>
          <a:ln w="31750">
            <a:solidFill>
              <a:srgbClr val="4A63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17520" y="4846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4A6357"/>
                </a:solidFill>
                <a:latin typeface="Trebuchet MS"/>
              </a:rPr>
              <a:t>All three list slipping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3200400"/>
            <a:ext cx="4572000" cy="2377440"/>
          </a:xfrm>
          <a:prstGeom prst="roundRect">
            <a:avLst>
              <a:gd name="adj" fmla="val 4000"/>
            </a:avLst>
          </a:prstGeom>
          <a:solidFill>
            <a:srgbClr val="FCE6DC"/>
          </a:solidFill>
          <a:ln w="22225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26480" y="3401568"/>
            <a:ext cx="1920240" cy="256032"/>
          </a:xfrm>
          <a:prstGeom prst="rect">
            <a:avLst/>
          </a:prstGeom>
          <a:noFill/>
          <a:ln w="9525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EB6C36"/>
                </a:solidFill>
                <a:latin typeface="Trebuchet MS"/>
              </a:rPr>
              <a:t>62.4 MM WHEELS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8862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6362B"/>
                </a:solidFill>
                <a:latin typeface="Trebuchet MS"/>
              </a:rPr>
              <a:t>YellowBot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2336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6362B"/>
                </a:solidFill>
                <a:latin typeface="Trebuchet MS"/>
              </a:rPr>
              <a:t>Track-X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58114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6362B"/>
                </a:solidFill>
                <a:latin typeface="Trebuchet MS"/>
              </a:rPr>
              <a:t>Boxor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0" y="5138928"/>
            <a:ext cx="1783080" cy="0"/>
          </a:xfrm>
          <a:prstGeom prst="line">
            <a:avLst/>
          </a:prstGeom>
          <a:ln w="19050">
            <a:solidFill>
              <a:srgbClr val="7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406640" y="4773168"/>
            <a:ext cx="365760" cy="36576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63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406640" y="5138928"/>
            <a:ext cx="365760" cy="0"/>
          </a:xfrm>
          <a:prstGeom prst="line">
            <a:avLst/>
          </a:prstGeom>
          <a:ln w="38100">
            <a:solidFill>
              <a:srgbClr val="163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92440" y="4846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6362B"/>
                </a:solidFill>
                <a:latin typeface="Trebuchet MS"/>
              </a:rPr>
              <a:t>None of them do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40680" y="4389120"/>
            <a:ext cx="429768" cy="0"/>
          </a:xfrm>
          <a:prstGeom prst="line">
            <a:avLst/>
          </a:prstGeom>
          <a:ln w="19050">
            <a:solidFill>
              <a:srgbClr val="EB6C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7D9488"/>
                </a:solidFill>
                <a:latin typeface="Trebuchet MS"/>
              </a:rPr>
              <a:t>THE 62.4 MM WHEEL IS ALSO BIGGER, SO IT DRIVES FASTER. MORE GRIP AND MORE SPEED, SAME PART.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4A6357"/>
                </a:solidFill>
                <a:latin typeface="Trebuchet MS"/>
              </a:rPr>
              <a:t>DESIGN RULE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6362B"/>
                </a:solidFill>
                <a:latin typeface="Trebuchet MS"/>
              </a:rPr>
              <a:t>A box frame lines you up for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Push a box flat against the wall and it can only sit one way — square. That is a free, perfect starting position, every single run, with no code at 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26080"/>
            <a:ext cx="9601200" cy="146304"/>
          </a:xfrm>
          <a:prstGeom prst="rect">
            <a:avLst/>
          </a:prstGeom>
          <a:solidFill>
            <a:srgbClr val="C3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4A6357"/>
                </a:solidFill>
                <a:latin typeface="Trebuchet MS"/>
              </a:rPr>
              <a:t>BORDER WALL</a:t>
            </a:r>
          </a:p>
        </p:txBody>
      </p:sp>
      <p:sp>
        <p:nvSpPr>
          <p:cNvPr id="7" name="Rounded Rectangle 6"/>
          <p:cNvSpPr/>
          <p:nvPr/>
        </p:nvSpPr>
        <p:spPr>
          <a:xfrm rot="21240000">
            <a:off x="1371600" y="3127248"/>
            <a:ext cx="2560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 rot="21240000">
            <a:off x="3383280" y="3127248"/>
            <a:ext cx="2560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 rot="21240000">
            <a:off x="1371600" y="4261104"/>
            <a:ext cx="2267712" cy="256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80160" y="48463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6362B"/>
                </a:solidFill>
                <a:latin typeface="Trebuchet MS"/>
              </a:rPr>
              <a:t>Open sides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230368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Only one corner touches. It can sit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crooked and you will not notice.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072384"/>
            <a:ext cx="3931920" cy="1463040"/>
          </a:xfrm>
          <a:prstGeom prst="roundRect">
            <a:avLst>
              <a:gd name="adj" fmla="val 4000"/>
            </a:avLst>
          </a:prstGeom>
          <a:solidFill>
            <a:srgbClr val="FCE6DC"/>
          </a:solidFill>
          <a:ln w="22225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46520" y="3429000"/>
            <a:ext cx="310896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46520" y="36576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4A6357"/>
                </a:solidFill>
                <a:latin typeface="Trebuchet MS"/>
              </a:rPr>
              <a:t>HUB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072384"/>
            <a:ext cx="3931920" cy="54864"/>
          </a:xfrm>
          <a:prstGeom prst="rect">
            <a:avLst/>
          </a:prstGeom>
          <a:solidFill>
            <a:srgbClr val="EB6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48463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6362B"/>
                </a:solidFill>
                <a:latin typeface="Trebuchet MS"/>
              </a:rPr>
              <a:t>Box 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5230368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The whole edge touches, so it is square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before it moves. Same start, every run.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7D9488"/>
                </a:solidFill>
                <a:latin typeface="Trebuchet MS"/>
              </a:rPr>
              <a:t>TRACK-X IS FAST AND ACCURATE BUT HAS OPEN SIDES. BOXOR KEPT THE SPEED AND ADDED THE FRAME.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4A6357"/>
                </a:solidFill>
                <a:latin typeface="Trebuchet MS"/>
              </a:rPr>
              <a:t>DESIGN RULE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6362B"/>
                </a:solidFill>
                <a:latin typeface="Trebuchet MS"/>
              </a:rPr>
              <a:t>Keep the weight low — and 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Weight up high makes the robot rock when it starts, stops and turns. Rocking lifts weight off the wheels, and a wheel with no weight on it spins instead of driving. Weight also needs spreading front to back: pile it all at one end and your turns stop being repeatable.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5257800"/>
            <a:ext cx="9601200" cy="0"/>
          </a:xfrm>
          <a:prstGeom prst="line">
            <a:avLst/>
          </a:prstGeom>
          <a:ln w="22225">
            <a:solidFill>
              <a:srgbClr val="7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5349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4A6357"/>
                </a:solidFill>
                <a:latin typeface="Trebuchet MS"/>
              </a:rPr>
              <a:t>MAT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572000"/>
            <a:ext cx="283464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2103120" y="3703320"/>
            <a:ext cx="1371600" cy="868680"/>
          </a:xfrm>
          <a:prstGeom prst="roundRect">
            <a:avLst>
              <a:gd name="adj" fmla="val 4000"/>
            </a:avLst>
          </a:prstGeom>
          <a:solidFill>
            <a:srgbClr val="EFF2F0"/>
          </a:solidFill>
          <a:ln w="1270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103120" y="4023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4A6357"/>
                </a:solidFill>
                <a:latin typeface="Trebuchet MS"/>
              </a:rPr>
              <a:t>HUB</a:t>
            </a:r>
          </a:p>
        </p:txBody>
      </p:sp>
      <p:sp>
        <p:nvSpPr>
          <p:cNvPr id="10" name="Oval 9"/>
          <p:cNvSpPr/>
          <p:nvPr/>
        </p:nvSpPr>
        <p:spPr>
          <a:xfrm>
            <a:off x="1508760" y="50749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03320" y="50749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06624" y="4398264"/>
            <a:ext cx="164592" cy="164592"/>
          </a:xfrm>
          <a:prstGeom prst="ellipse">
            <a:avLst/>
          </a:prstGeom>
          <a:solidFill>
            <a:srgbClr val="4A6357"/>
          </a:solidFill>
          <a:ln w="1270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572000" y="4480560"/>
            <a:ext cx="0" cy="777240"/>
          </a:xfrm>
          <a:prstGeom prst="line">
            <a:avLst/>
          </a:prstGeom>
          <a:ln w="12700">
            <a:solidFill>
              <a:srgbClr val="4A63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31546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6362B"/>
                </a:solidFill>
                <a:latin typeface="Trebuchet MS"/>
              </a:rPr>
              <a:t>Hub on 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9300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4A6357"/>
                </a:solidFill>
                <a:latin typeface="Trebuchet MS"/>
              </a:rPr>
              <a:t>Weight sits high. It rocks.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754880"/>
            <a:ext cx="3383280" cy="365760"/>
          </a:xfrm>
          <a:prstGeom prst="roundRect">
            <a:avLst>
              <a:gd name="adj" fmla="val 4000"/>
            </a:avLst>
          </a:prstGeom>
          <a:solidFill>
            <a:srgbClr val="FCE6DC"/>
          </a:solidFill>
          <a:ln w="22225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223760" y="4828032"/>
            <a:ext cx="1737360" cy="2377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537959" y="5074920"/>
            <a:ext cx="365760" cy="36576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63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81160" y="5074920"/>
            <a:ext cx="365760" cy="36576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63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10144" y="4837176"/>
            <a:ext cx="164592" cy="164592"/>
          </a:xfrm>
          <a:prstGeom prst="ellipse">
            <a:avLst/>
          </a:prstGeom>
          <a:solidFill>
            <a:srgbClr val="EB6C36"/>
          </a:solidFill>
          <a:ln w="12700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0058400" y="4919472"/>
            <a:ext cx="0" cy="338328"/>
          </a:xfrm>
          <a:prstGeom prst="line">
            <a:avLst/>
          </a:prstGeom>
          <a:ln w="12700">
            <a:solidFill>
              <a:srgbClr val="4A63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0" y="315468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6362B"/>
                </a:solidFill>
                <a:latin typeface="Trebuchet MS"/>
              </a:rPr>
              <a:t>Hub sunk into the frame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9300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4A6357"/>
                </a:solidFill>
                <a:latin typeface="Trebuchet MS"/>
              </a:rPr>
              <a:t>Weight stays on the wheels.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7D9488"/>
                </a:solidFill>
                <a:latin typeface="Trebuchet MS"/>
              </a:rPr>
              <a:t>DOT = WHERE THE WEIGHT AVERAGES OUT. LOWER IS BETTER, AND CENTRED IS BETTER STILL.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4A6357"/>
                </a:solidFill>
                <a:latin typeface="Trebuchet MS"/>
              </a:rPr>
              <a:t>DESIGN RULE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6362B"/>
                </a:solidFill>
                <a:latin typeface="Trebuchet MS"/>
              </a:rPr>
              <a:t>Hold the wheels straight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Support the wheel on the motor side and on the far side. A heavy attachment — say you are carrying something across the table — presses down and bends the wheels slightly inward. You will not see it happen. You will only see the robot stop driving straight.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657600"/>
            <a:ext cx="274320" cy="1554480"/>
          </a:xfrm>
          <a:prstGeom prst="rect">
            <a:avLst/>
          </a:prstGeom>
          <a:solidFill>
            <a:srgbClr val="EF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80160" y="4434840"/>
            <a:ext cx="1371600" cy="0"/>
          </a:xfrm>
          <a:prstGeom prst="line">
            <a:avLst/>
          </a:prstGeom>
          <a:ln w="25400">
            <a:solidFill>
              <a:srgbClr val="4A63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 rot="420000">
            <a:off x="2651760" y="3977639"/>
            <a:ext cx="347472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032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6362B"/>
                </a:solidFill>
                <a:latin typeface="Trebuchet MS"/>
              </a:rPr>
              <a:t>Braced one side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4434840"/>
            <a:ext cx="1463040" cy="0"/>
          </a:xfrm>
          <a:prstGeom prst="line">
            <a:avLst/>
          </a:prstGeom>
          <a:ln w="15875">
            <a:solidFill>
              <a:srgbClr val="4A635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49039" y="4069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4A6357"/>
                </a:solidFill>
                <a:latin typeface="Trebuchet MS"/>
              </a:rPr>
              <a:t>DRIFTS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440680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The axle flexes, the wheel leans, and every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run ends somewhere slightly different.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657600"/>
            <a:ext cx="274320" cy="1554480"/>
          </a:xfrm>
          <a:prstGeom prst="rect">
            <a:avLst/>
          </a:prstGeom>
          <a:solidFill>
            <a:srgbClr val="EF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3657600"/>
            <a:ext cx="274320" cy="1554480"/>
          </a:xfrm>
          <a:prstGeom prst="rect">
            <a:avLst/>
          </a:prstGeom>
          <a:solidFill>
            <a:srgbClr val="EF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400800" y="4434840"/>
            <a:ext cx="1828800" cy="0"/>
          </a:xfrm>
          <a:prstGeom prst="line">
            <a:avLst/>
          </a:prstGeom>
          <a:ln w="25400">
            <a:solidFill>
              <a:srgbClr val="163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32320" y="3977639"/>
            <a:ext cx="347472" cy="914400"/>
          </a:xfrm>
          <a:prstGeom prst="roundRect">
            <a:avLst>
              <a:gd name="adj" fmla="val 4000"/>
            </a:avLst>
          </a:prstGeom>
          <a:solidFill>
            <a:srgbClr val="FCE6DC"/>
          </a:solidFill>
          <a:ln w="22225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126480" y="32004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6362B"/>
                </a:solidFill>
                <a:latin typeface="Trebuchet MS"/>
              </a:rPr>
              <a:t>Braced both sides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69680" y="4434840"/>
            <a:ext cx="1463040" cy="0"/>
          </a:xfrm>
          <a:prstGeom prst="line">
            <a:avLst/>
          </a:prstGeom>
          <a:ln w="15875">
            <a:solidFill>
              <a:srgbClr val="EB6C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0" y="4069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EB6C36"/>
                </a:solidFill>
                <a:latin typeface="Trebuchet MS"/>
              </a:rPr>
              <a:t>STRAIGHT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440680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The wheel stays square, so the same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program gives the same result.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7D9488"/>
                </a:solidFill>
                <a:latin typeface="Trebuchet MS"/>
              </a:rPr>
              <a:t>TOP VIEW · GREY = FRAME BEAM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4A6357"/>
                </a:solidFill>
                <a:latin typeface="Trebuchet MS"/>
              </a:rPr>
              <a:t>DESIGN RULE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6362B"/>
                </a:solidFill>
                <a:latin typeface="Trebuchet MS"/>
              </a:rPr>
              <a:t>Attachments should drop on, not screw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In a match you get two and a half minutes. Every second spent wrestling an attachment is a second not scoring. This is the gravity technique: a couple of small pegs guide it into place, then its own weight holds it. Nothing locks.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3063240"/>
            <a:ext cx="3200400" cy="731520"/>
          </a:xfrm>
          <a:prstGeom prst="roundRect">
            <a:avLst>
              <a:gd name="adj" fmla="val 4000"/>
            </a:avLst>
          </a:prstGeom>
          <a:solidFill>
            <a:srgbClr val="FCE6DC"/>
          </a:solidFill>
          <a:ln w="22225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297680" y="32735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EB6C36"/>
                </a:solidFill>
                <a:latin typeface="Trebuchet MS"/>
              </a:rPr>
              <a:t>Attachment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97880" y="3886200"/>
            <a:ext cx="0" cy="640080"/>
          </a:xfrm>
          <a:prstGeom prst="line">
            <a:avLst/>
          </a:prstGeom>
          <a:ln w="19050">
            <a:solidFill>
              <a:srgbClr val="EB6C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80760" y="4069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EB6C36"/>
                </a:solidFill>
                <a:latin typeface="Trebuchet MS"/>
              </a:rPr>
              <a:t>DROPS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461772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0320">
            <a:solidFill>
              <a:srgbClr val="163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931920" y="516636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4A6357"/>
                </a:solidFill>
                <a:latin typeface="Trebuchet MS"/>
              </a:rPr>
              <a:t>Chassis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4544568"/>
            <a:ext cx="2103120" cy="146304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44988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4A6357"/>
                </a:solidFill>
                <a:latin typeface="Trebuchet MS"/>
              </a:rPr>
              <a:t>TOP MOUNT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90688" y="4937760"/>
            <a:ext cx="146304" cy="822960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52303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4A6357"/>
                </a:solidFill>
                <a:latin typeface="Trebuchet MS"/>
              </a:rPr>
              <a:t>FRONT MOUNT</a:t>
            </a:r>
          </a:p>
        </p:txBody>
      </p:sp>
      <p:sp>
        <p:nvSpPr>
          <p:cNvPr id="15" name="Oval 14"/>
          <p:cNvSpPr/>
          <p:nvPr/>
        </p:nvSpPr>
        <p:spPr>
          <a:xfrm>
            <a:off x="4050791" y="587959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34072" y="587959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004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6362B"/>
                </a:solidFill>
                <a:latin typeface="Trebuchet MS"/>
              </a:rPr>
              <a:t>Held by its own weight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No pins to line up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under pressure.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4A6357"/>
                </a:solidFill>
                <a:latin typeface="Trebuchet MS"/>
              </a:rPr>
              <a:t>DESIGN RULE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6362B"/>
                </a:solidFill>
                <a:latin typeface="Trebuchet MS"/>
              </a:rPr>
              <a:t>The gyro does the driving, not the motor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The ready-made movement blocks look easy and they will let you down. Zero the gyro at the start, then hold that heading the whole way, correcting continuously. Bump a model mid-run and it steers itself back to zero.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55264"/>
            <a:ext cx="201168" cy="201168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2004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6362B"/>
                </a:solidFill>
                <a:latin typeface="Trebuchet MS"/>
              </a:rPr>
              <a:t>Zero the gyro, then hold the heading.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29584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A6357"/>
                </a:solidFill>
                <a:latin typeface="Trebuchet MS"/>
              </a:rPr>
              <a:t>Drive at 0°, measure the error constantly, steer by an amount proportional to how far off you 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032503"/>
            <a:ext cx="201168" cy="201168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977639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6362B"/>
                </a:solidFill>
                <a:latin typeface="Trebuchet MS"/>
              </a:rPr>
              <a:t>Motor encoders for distance.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306824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A6357"/>
                </a:solidFill>
                <a:latin typeface="Trebuchet MS"/>
              </a:rPr>
              <a:t>Exact degrees forward, exact degrees to turn. Repeatable in a way that timing never 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09743"/>
            <a:ext cx="201168" cy="201168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6362B"/>
                </a:solidFill>
                <a:latin typeface="Trebuchet MS"/>
              </a:rPr>
              <a:t>One colour sensor is still worth having.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084064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A6357"/>
                </a:solidFill>
                <a:latin typeface="Trebuchet MS"/>
              </a:rPr>
              <a:t>But black lines are disappearing from FIRST's mats, so most teams now navigate on gyro and encoders.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586983"/>
            <a:ext cx="201168" cy="201168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19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6362B"/>
                </a:solidFill>
                <a:latin typeface="Trebuchet MS"/>
              </a:rPr>
              <a:t>Four wheels with rubber tyres.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861303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A6357"/>
                </a:solidFill>
                <a:latin typeface="Trebuchet MS"/>
              </a:rPr>
              <a:t>Not a ball-bearing castor. Four driven wheels track straighter.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144768"/>
            <a:ext cx="32004" cy="566928"/>
          </a:xfrm>
          <a:prstGeom prst="rect">
            <a:avLst/>
          </a:prstGeom>
          <a:solidFill>
            <a:srgbClr val="EB6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6163055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16362B"/>
                </a:solidFill>
                <a:latin typeface="Trebuchet MS"/>
              </a:rPr>
              <a:t>We already have this: the Acceleration block ramps up, holds the gyro heading and eases off — and the same maths is drive_cm_gyro in the Python toolkit.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4A6357"/>
                </a:solidFill>
                <a:latin typeface="Trebuchet MS"/>
              </a:rPr>
              <a:t>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6362B"/>
                </a:solidFill>
                <a:latin typeface="Trebuchet MS"/>
              </a:rPr>
              <a:t>What we are deciding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A6357"/>
                </a:solidFill>
                <a:latin typeface="Trebuchet MS"/>
              </a:rPr>
              <a:t>We do not have to invent a robot. We have to make these choices on purpose, and be able to say why — because that is the question the judges 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70632"/>
            <a:ext cx="219456" cy="219456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74320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6362B"/>
                </a:solidFill>
                <a:latin typeface="Trebuchet MS"/>
              </a:rPr>
              <a:t>Is the base finished, and can we leave it alone?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72968"/>
            <a:ext cx="219456" cy="219456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145536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6362B"/>
                </a:solidFill>
                <a:latin typeface="Trebuchet MS"/>
              </a:rPr>
              <a:t>Box frame or open sides?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75303"/>
            <a:ext cx="219456" cy="219456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547872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6362B"/>
                </a:solidFill>
                <a:latin typeface="Trebuchet MS"/>
              </a:rPr>
              <a:t>Which wheels?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77640"/>
            <a:ext cx="219456" cy="219456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95020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6362B"/>
                </a:solidFill>
                <a:latin typeface="Trebuchet MS"/>
              </a:rPr>
              <a:t>Where does the hub sit, and is the weight even?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79976"/>
            <a:ext cx="219456" cy="219456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352544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6362B"/>
                </a:solidFill>
                <a:latin typeface="Trebuchet MS"/>
              </a:rPr>
              <a:t>Are the wheels supported on both sides?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82312"/>
            <a:ext cx="219456" cy="219456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75488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6362B"/>
                </a:solidFill>
                <a:latin typeface="Trebuchet MS"/>
              </a:rPr>
              <a:t>How fast can we swap an attachment?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184648"/>
            <a:ext cx="219456" cy="219456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5157216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6362B"/>
                </a:solidFill>
                <a:latin typeface="Trebuchet MS"/>
              </a:rPr>
              <a:t>Top mount, front mount, or both?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586984"/>
            <a:ext cx="219456" cy="219456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EB6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5559552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6362B"/>
                </a:solidFill>
                <a:latin typeface="Trebuchet MS"/>
              </a:rPr>
              <a:t>Gyro and encoders, or the ready-made blocks?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172200"/>
            <a:ext cx="32004" cy="566928"/>
          </a:xfrm>
          <a:prstGeom prst="rect">
            <a:avLst/>
          </a:prstGeom>
          <a:solidFill>
            <a:srgbClr val="EB6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6190488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16362B"/>
                </a:solidFill>
                <a:latin typeface="Trebuchet MS"/>
              </a:rPr>
              <a:t>Write down what we choose and why, and photograph version one before we take it apart — that record is what the judges score hardest.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